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3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5420" y="1325612"/>
            <a:ext cx="801301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2024-2025 科技與半導體供應鏈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395880" y="2360563"/>
            <a:ext cx="43522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市場狀況與法人級投資策略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85641" y="3373189"/>
            <a:ext cx="3172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4F6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聚焦 AI 基礎設施大躍進與供應鏈定價權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核心見解：AI 驅動的長期重估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3936950" cy="2305645"/>
          </a:xfrm>
          <a:prstGeom prst="roundRect">
            <a:avLst>
              <a:gd name="adj" fmla="val 55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87252"/>
            <a:ext cx="3497732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典範轉移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851" y="2161133"/>
            <a:ext cx="3497732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基礎設施的快速擴張，正驅動半導體與資料中心供應鏈的長期重估。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98802" y="1333351"/>
            <a:ext cx="3937099" cy="2305645"/>
          </a:xfrm>
          <a:prstGeom prst="roundRect">
            <a:avLst>
              <a:gd name="adj" fmla="val 55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2702" y="1587252"/>
            <a:ext cx="3497884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選股策略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52702" y="2161133"/>
            <a:ext cx="3497884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2024-2025 年，聚焦具備「定價權」與「關鍵技術護城河」的領先企業。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950" y="4024759"/>
            <a:ext cx="8127950" cy="0"/>
          </a:xfrm>
          <a:prstGeom prst="line">
            <a:avLst/>
          </a:prstGeom>
          <a:noFill/>
          <a:ln w="9525">
            <a:solidFill>
              <a:srgbClr val="AAB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950" y="4156472"/>
            <a:ext cx="829050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i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目標：透過精準選股獲取超越市場的超額回報。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市場現況：AI 典範轉移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65225"/>
            <a:ext cx="48188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26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GB200 確立次代標準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082701"/>
            <a:ext cx="4724400" cy="163830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NVIDIA GTC 2024 確立 GB200 NVL72 為次代標準。</a:t>
            </a:r>
            <a:endParaRPr lang="en-US" sz="1800" dirty="0"/>
          </a:p>
          <a:p>
            <a:pPr algn="l" marL="158750" indent="-158750"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算力暴增百倍，直接引爆硬體規格質變。</a:t>
            </a:r>
            <a:endParaRPr lang="en-US" sz="1800" dirty="0"/>
          </a:p>
          <a:p>
            <a:pPr algn="l" marL="158750" indent="-158750">
              <a:spcAft>
                <a:spcPts val="1500"/>
              </a:spcAft>
              <a:buSzPct val="100000"/>
              <a:buChar char="•"/>
            </a:pPr>
            <a:r>
              <a:rPr lang="en-US" sz="1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液冷散熱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與 </a:t>
            </a:r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高階先進封裝</a:t>
            </a:r>
            <a:pPr algn="l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需求噴發。</a:t>
            </a:r>
            <a:endParaRPr lang="en-US" sz="1800" dirty="0"/>
          </a:p>
        </p:txBody>
      </p:sp>
      <p:pic>
        <p:nvPicPr>
          <p:cNvPr id="6" name="Image 0" descr="/Users/mingyenlin/Documents/pdf/mineru_output_ai_strategy/AI_Strategy/auto/images/0447ac691a120a48269a18b8c89bdae153ee502d19739dd1589754d1905e02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251" y="1333351"/>
            <a:ext cx="3149650" cy="2849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供應鏈現實：全面漲價與緊缺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6502"/>
            <a:ext cx="40156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產能排擠與上游減產發酵，迎來強勢賣方市場。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234952"/>
            <a:ext cx="1905000" cy="1178421"/>
          </a:xfrm>
          <a:prstGeom prst="roundRect">
            <a:avLst>
              <a:gd name="adj" fmla="val 538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361902"/>
            <a:ext cx="1684121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先進封裝瓶頸</a:t>
            </a:r>
            <a:pPr algn="l" indent="0" marL="0">
              <a:lnSpc>
                <a:spcPts val="1820"/>
              </a:lnSpc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CoWoS 供不應求，交期延長至 6 季。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901" y="2234952"/>
            <a:ext cx="1905000" cy="1178421"/>
          </a:xfrm>
          <a:prstGeom prst="roundRect">
            <a:avLst>
              <a:gd name="adj" fmla="val 538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6851" y="2361902"/>
            <a:ext cx="1684121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記憶體緊缺</a:t>
            </a:r>
            <a:pPr algn="l" indent="0" marL="0">
              <a:lnSpc>
                <a:spcPts val="1820"/>
              </a:lnSpc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SLC/MLC NAND 減產 20-30%，報價墊高。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540323"/>
            <a:ext cx="1905000" cy="947291"/>
          </a:xfrm>
          <a:prstGeom prst="roundRect">
            <a:avLst>
              <a:gd name="adj" fmla="val 67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3667274"/>
            <a:ext cx="1684121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被動元件調漲</a:t>
            </a:r>
            <a:pPr algn="l" indent="0" marL="0">
              <a:lnSpc>
                <a:spcPts val="1820"/>
              </a:lnSpc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MLCC 調漲 20%，台廠迎來轉單。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39901" y="3540323"/>
            <a:ext cx="1905000" cy="947291"/>
          </a:xfrm>
          <a:prstGeom prst="roundRect">
            <a:avLst>
              <a:gd name="adj" fmla="val 67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6851" y="3667274"/>
            <a:ext cx="1684121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功率半導體漲價</a:t>
            </a:r>
            <a:pPr algn="l" indent="0" marL="0">
              <a:lnSpc>
                <a:spcPts val="1820"/>
              </a:lnSpc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客戶重啟拉貨，結束一年半庫存調整。</a:t>
            </a:r>
            <a:endParaRPr lang="en-US" sz="1400" dirty="0"/>
          </a:p>
        </p:txBody>
      </p:sp>
      <p:pic>
        <p:nvPicPr>
          <p:cNvPr id="13" name="Image 0" descr="/Users/mingyenlin/Documents/pdf/mineru_output_ai_strategy/AI_Strategy/auto/images/c44be3991f5b2e217e8c9490df2c8381f8b9f1ec577599669839fd9911535a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802" y="1333351"/>
            <a:ext cx="3937099" cy="2111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38100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38100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三大核心投資主題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9457" y="1217563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2851" y="1143000"/>
            <a:ext cx="76429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基礎設施升級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2851" y="1482626"/>
            <a:ext cx="7642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聚焦受惠於 GB200 架構轉換的液冷散熱雙雄與高階 CCL 獨家供應商。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1857226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9457" y="1931789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2851" y="1857226"/>
            <a:ext cx="76429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先進封裝超級循環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2851" y="2196852"/>
            <a:ext cx="7642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鎖定直接受惠台積電 CoWoS/SOIC 資本支出擴張的濕製程設備與檢測龍頭。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950" y="2571452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9457" y="2646015"/>
            <a:ext cx="1440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2851" y="2571452"/>
            <a:ext cx="76429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供需反轉與定價權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2851" y="2911078"/>
            <a:ext cx="76429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佈局因原廠減產或漲價，具備低價庫存優勢與轉單效應的零組件廠。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38100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38100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法人級選股標準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76325"/>
            <a:ext cx="8127950" cy="824657"/>
          </a:xfrm>
          <a:prstGeom prst="roundRect">
            <a:avLst>
              <a:gd name="adj" fmla="val 123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234678"/>
            <a:ext cx="507950" cy="507950"/>
          </a:xfrm>
          <a:prstGeom prst="roundRect">
            <a:avLst>
              <a:gd name="adj" fmla="val 125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0214" y="1321891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33351" y="1203275"/>
            <a:ext cx="73191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核心主題契合度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351" y="1542901"/>
            <a:ext cx="731911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營收需高度暴露於液冷散熱、先進封裝或關鍵零組件漲價三大主軸。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2027932"/>
            <a:ext cx="8127950" cy="824657"/>
          </a:xfrm>
          <a:prstGeom prst="roundRect">
            <a:avLst>
              <a:gd name="adj" fmla="val 123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186285"/>
            <a:ext cx="507950" cy="507950"/>
          </a:xfrm>
          <a:prstGeom prst="roundRect">
            <a:avLst>
              <a:gd name="adj" fmla="val 125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0214" y="2273498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33351" y="2154882"/>
            <a:ext cx="73191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年獲利爆發力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351" y="2494508"/>
            <a:ext cx="731911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預估 EPS 具備高度成長斜率 (YoY &gt; 30-40%) 的高能見度個股。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2979539"/>
            <a:ext cx="8127950" cy="824657"/>
          </a:xfrm>
          <a:prstGeom prst="roundRect">
            <a:avLst>
              <a:gd name="adj" fmla="val 123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137892"/>
            <a:ext cx="507950" cy="507950"/>
          </a:xfrm>
          <a:prstGeom prst="roundRect">
            <a:avLst>
              <a:gd name="adj" fmla="val 125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0214" y="3225105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3351" y="3106489"/>
            <a:ext cx="73191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供應鏈實質受惠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3351" y="3446115"/>
            <a:ext cx="731911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獲大廠認證（如 NVL72 供應商）或接獲急單，排除純題材炒作。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2913" y="38100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5325" y="381000"/>
            <a:ext cx="82290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10 法人級核心選股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4149477"/>
            <a:ext cx="85496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註：數據來源自供應鏈調查與法人預估，僅供參考。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深入解析：液冷散熱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4724400" cy="1220986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523851"/>
            <a:ext cx="44302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奇鋐 (3017) [產能領跑者]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450" y="1901577"/>
            <a:ext cx="4430268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NVL72 水冷板主力供應商，3DVC 出貨強勁，越南廠擴產應對極高市佔需求。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744837"/>
            <a:ext cx="4724400" cy="1220986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2935337"/>
            <a:ext cx="44302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雙鴻 (3324) [技術先行者]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8450" y="3313063"/>
            <a:ext cx="4430268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水冷板與分歧管切入美系雲端服務商，2026 預估 EPS 獲利爆發力達 84.7%。</a:t>
            </a:r>
            <a:endParaRPr lang="en-US" sz="1400" dirty="0"/>
          </a:p>
        </p:txBody>
      </p:sp>
      <p:pic>
        <p:nvPicPr>
          <p:cNvPr id="10" name="Image 0" descr="/Users/mingyenlin/Documents/pdf/mineru_output_ai_strategy/AI_Strategy/auto/images/a75d3c8391bafab16d91cc8928927951404810ce8a56bada3f13b39c6d1b9f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251" y="1333351"/>
            <a:ext cx="3149650" cy="913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381000"/>
            <a:ext cx="0" cy="504825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381000"/>
            <a:ext cx="79698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深入解析：先進封裝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2775"/>
            <a:ext cx="8290509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台積電產能擴張帶動本土設備商長線超級循環。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416695"/>
            <a:ext cx="3968651" cy="1431727"/>
          </a:xfrm>
          <a:prstGeom prst="roundRect">
            <a:avLst>
              <a:gd name="adj" fmla="val 70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60350" y="1902470"/>
            <a:ext cx="3663851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569095"/>
            <a:ext cx="3737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弘塑 (3131)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50" y="1975396"/>
            <a:ext cx="3737128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濕製程設備主力/獨家供應商，享最高毛利與寡占紅利。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350" y="2434679"/>
            <a:ext cx="373712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預估 EPS: 130.0~140.0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7101" y="1416695"/>
            <a:ext cx="3968800" cy="1431727"/>
          </a:xfrm>
          <a:prstGeom prst="roundRect">
            <a:avLst>
              <a:gd name="adj" fmla="val 70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19501" y="1902470"/>
            <a:ext cx="3664000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9501" y="1569095"/>
            <a:ext cx="37372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辛耘 (3583)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9501" y="1975396"/>
            <a:ext cx="3737280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濕製程設備市占擴大，訂單能見度已達 2025 年底。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9501" y="2434679"/>
            <a:ext cx="373728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預估 EPS: 40.0~55.0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3038921"/>
            <a:ext cx="3968651" cy="1431727"/>
          </a:xfrm>
          <a:prstGeom prst="roundRect">
            <a:avLst>
              <a:gd name="adj" fmla="val 70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60350" y="3524696"/>
            <a:ext cx="3663851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50" y="3191321"/>
            <a:ext cx="3737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中砂 (1560)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0350" y="3597622"/>
            <a:ext cx="3737128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鑽石碟切入先進製程與 HBM 需求，高階產品佔比穩升。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350" y="4056906"/>
            <a:ext cx="373712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預估 EPS: 12.27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深入解析：高階 CCL/PCB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6502"/>
            <a:ext cx="82905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伺服器升級推升板材規格，重塑材料商毛利結構。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76152"/>
            <a:ext cx="8127950" cy="628352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203103"/>
            <a:ext cx="1523851" cy="374452"/>
          </a:xfrm>
          <a:prstGeom prst="roundRect">
            <a:avLst>
              <a:gd name="adj" fmla="val 1017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152" y="2266504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臻鼎-KY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12653" y="2266504"/>
            <a:ext cx="4404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受惠 AI 伺服器主板、高階 HDI 及 ABF 載板放量。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54470" y="2290316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EPS: 10.31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895005"/>
            <a:ext cx="8127950" cy="628352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3021955"/>
            <a:ext cx="1523851" cy="374452"/>
          </a:xfrm>
          <a:prstGeom prst="roundRect">
            <a:avLst>
              <a:gd name="adj" fmla="val 1017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152" y="3085356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台燿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12653" y="3085356"/>
            <a:ext cx="4404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M8 材料順利通過認證，800G 交換器板材持續放量。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54470" y="3109168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EPS: 21.33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950" y="3713857"/>
            <a:ext cx="8127950" cy="628352"/>
          </a:xfrm>
          <a:prstGeom prst="roundRect">
            <a:avLst>
              <a:gd name="adj" fmla="val 101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840807"/>
            <a:ext cx="1523851" cy="374452"/>
          </a:xfrm>
          <a:prstGeom prst="roundRect">
            <a:avLst>
              <a:gd name="adj" fmla="val 1017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152" y="3904208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台光電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12653" y="3904208"/>
            <a:ext cx="4404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NVIDIA LPU M9 規格 CCL 獨家供應商。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54470" y="3928021"/>
            <a:ext cx="1554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EPS: 72.66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深入解析：供需反轉與定價權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3936950" cy="228897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361926"/>
            <a:ext cx="3936950" cy="0"/>
          </a:xfrm>
          <a:prstGeom prst="line">
            <a:avLst/>
          </a:prstGeom>
          <a:noFill/>
          <a:ln w="57150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581001"/>
            <a:ext cx="3627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記憶體反轉 (威剛)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8450" y="2060377"/>
            <a:ext cx="3555950" cy="12445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Kioxia/Micron 大幅減產 SLC/MLC NAND。</a:t>
            </a:r>
            <a:endParaRPr lang="en-US" sz="14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供給銳減 20-30%，引發客戶備貨潮。</a:t>
            </a:r>
            <a:endParaRPr lang="en-US" sz="14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低價庫存優勢將帶動毛利率大幅跳升。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8802" y="1333351"/>
            <a:ext cx="3937099" cy="228897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8802" y="1361926"/>
            <a:ext cx="3937099" cy="0"/>
          </a:xfrm>
          <a:prstGeom prst="line">
            <a:avLst/>
          </a:prstGeom>
          <a:noFill/>
          <a:ln w="57150">
            <a:solidFill>
              <a:srgbClr val="1C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9302" y="1581001"/>
            <a:ext cx="36272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E40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被動元件與功率半導體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89302" y="2060377"/>
            <a:ext cx="3556099" cy="99685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村田 (Murata) 調漲 MLCC 報價 20%。</a:t>
            </a:r>
            <a:endParaRPr lang="en-US" sz="14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Semi/Nexperia 調漲功率半導體報價。</a:t>
            </a:r>
            <a:endParaRPr lang="en-US" sz="14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台廠迎來轉單效應，結束產業寒冬。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估值與成長性矩陣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56891"/>
            <a:ext cx="32126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精準定位尚未反映爆發力的「黃金象限」。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36011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318891"/>
            <a:ext cx="2185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Sweet Spot (高成長，合理估值)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67116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851" y="2629942"/>
            <a:ext cx="25366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Valuation (高成長，高估值)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98221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2940993"/>
            <a:ext cx="257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Steady Growth (穩健成長，合理估值)</a:t>
            </a:r>
            <a:endParaRPr lang="en-US" sz="1200" dirty="0"/>
          </a:p>
        </p:txBody>
      </p:sp>
      <p:pic>
        <p:nvPicPr>
          <p:cNvPr id="11" name="Image 0" descr="/Users/mingyenlin/Documents/pdf/mineru_output_ai_strategy/AI_Strategy/auto/images/e8e64bbf9a5bcd33d6cca5881d4b6c30a23eae641bc3fa1f6a088606c8da4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501" y="1333351"/>
            <a:ext cx="4724400" cy="19009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863" y="507950"/>
            <a:ext cx="0" cy="571500"/>
          </a:xfrm>
          <a:prstGeom prst="line">
            <a:avLst/>
          </a:prstGeom>
          <a:noFill/>
          <a:ln w="123825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275" y="507950"/>
            <a:ext cx="7969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宏觀風險警示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33351"/>
            <a:ext cx="8127950" cy="1008906"/>
          </a:xfrm>
          <a:prstGeom prst="roundRect">
            <a:avLst>
              <a:gd name="adj" fmla="val 10070"/>
            </a:avLst>
          </a:prstGeom>
          <a:solidFill>
            <a:srgbClr val="FDEDEC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975" y="1533376"/>
            <a:ext cx="78824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能源與地緣政治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7975" y="1911102"/>
            <a:ext cx="788245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中東天然氣田遭襲，引發石化原料供給。考驗特用化學品廠向下游轉嫁成本的能力。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596158"/>
            <a:ext cx="8127950" cy="1008906"/>
          </a:xfrm>
          <a:prstGeom prst="roundRect">
            <a:avLst>
              <a:gd name="adj" fmla="val 10070"/>
            </a:avLst>
          </a:prstGeom>
          <a:solidFill>
            <a:srgbClr val="FDEDEC"/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7975" y="2796183"/>
            <a:ext cx="78824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原物料價格暴漲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7975" y="3173909"/>
            <a:ext cx="788245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LME 銅價大漲逾 60%，侵蝕短期毛利。需觀察 CCL 與 PCB 廠能否順利調漲報價。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915888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結語：掌握賣方市場贏家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26669" y="2214414"/>
            <a:ext cx="8290661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0"/>
              </a:lnSpc>
              <a:spcBef>
                <a:spcPts val="22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以「高能見度」為防禦核心，搭配「漲價轉機」為攻擊衛星。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6669" y="2940695"/>
            <a:ext cx="8290661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0"/>
              </a:lnSpc>
              <a:spcBef>
                <a:spcPts val="22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掌握底層硬體規格升級與產能瓶頸，是獲取超額報酬的唯一路徑。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7950" y="4027289"/>
            <a:ext cx="8128099" cy="0"/>
          </a:xfrm>
          <a:prstGeom prst="line">
            <a:avLst/>
          </a:prstGeom>
          <a:noFill/>
          <a:ln w="9525">
            <a:solidFill>
              <a:srgbClr val="2E40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669" y="4285952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2024-2025 AI 策略投資簡報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2024-2025 AI Strategy &amp; Semiconductor Supply Chain</dc:title>
  <dc:subject>PptxGenJS Presentation</dc:subject>
  <dc:creator>AI Strategy Bot</dc:creator>
  <cp:lastModifiedBy>AI Strategy Bot</cp:lastModifiedBy>
  <cp:revision>1</cp:revision>
  <dcterms:created xsi:type="dcterms:W3CDTF">2026-03-23T03:39:54Z</dcterms:created>
  <dcterms:modified xsi:type="dcterms:W3CDTF">2026-03-23T03:39:54Z</dcterms:modified>
</cp:coreProperties>
</file>