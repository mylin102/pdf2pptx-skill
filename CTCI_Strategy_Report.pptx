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278" y="952649"/>
            <a:ext cx="5715295" cy="115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spcBef>
                <a:spcPts val="2546"/>
              </a:spcBef>
              <a:spcAft>
                <a:spcPts val="1000"/>
              </a:spcAft>
              <a:buNone/>
            </a:pPr>
            <a:r>
              <a:rPr lang="en-US" sz="38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跨越千億規模的韌性演進</a:t>
            </a:r>
            <a:endParaRPr lang="en-US" sz="3800" dirty="0"/>
          </a:p>
          <a:p>
            <a:pPr algn="ctr" indent="0" marL="0">
              <a:lnSpc>
                <a:spcPts val="4560"/>
              </a:lnSpc>
              <a:spcBef>
                <a:spcPts val="2546"/>
              </a:spcBef>
              <a:spcAft>
                <a:spcPts val="1000"/>
              </a:spcAft>
              <a:buNone/>
            </a:pPr>
            <a:r>
              <a:rPr lang="en-US" sz="38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次世代 EPC 數位防禦戰略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2345" y="2237780"/>
            <a:ext cx="805931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26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從 196 億壓力測試，到守護 6,330 億潛在商機的「車規級」藍圖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20701" y="3372892"/>
            <a:ext cx="6502450" cy="0"/>
          </a:xfrm>
          <a:prstGeom prst="line">
            <a:avLst/>
          </a:prstGeom>
          <a:noFill/>
          <a:ln w="9525">
            <a:solidFill>
              <a:srgbClr val="2E40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5676" y="3694956"/>
            <a:ext cx="66324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FOR: 中鼎集團 (CTCI) 董事會與高階決策核心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55676" y="3967907"/>
            <a:ext cx="66324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BY: 林明彥 (MY Lin) | 跨界系統整合與戰略幕僚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55676" y="4240857"/>
            <a:ext cx="66324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CLASSIFICATION: 高階戰略機密 (Confidential)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基業長青：全球百大工程版圖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60302"/>
            <a:ext cx="3936950" cy="1924943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942802"/>
            <a:ext cx="349773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126 / 59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1851" y="2537073"/>
            <a:ext cx="349773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ENR 全球/國際工程承包商排名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98802" y="1460302"/>
            <a:ext cx="3937099" cy="1924943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2702" y="1942802"/>
            <a:ext cx="349788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1%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52702" y="2537073"/>
            <a:ext cx="349788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S&amp;P Global 永續年鑑最高榮譽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950" y="3867745"/>
            <a:ext cx="8290509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CTCI 中鼎集團持續深耕全球市場，穩居國際統包工程領先地位。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381000"/>
            <a:ext cx="0" cy="504825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381000"/>
            <a:ext cx="79698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強勁財務實力與流動性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81125"/>
            <a:ext cx="39508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3,334 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114550"/>
            <a:ext cx="39508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2024 Q1 在建工程總額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2667000"/>
            <a:ext cx="39508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279.04 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7950" y="3400425"/>
            <a:ext cx="39508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現金與約當現金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3838575"/>
            <a:ext cx="395086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員工信託持股信心極高：3,500 人中僅 21 人終止參與。</a:t>
            </a:r>
            <a:endParaRPr lang="en-US" sz="1200" dirty="0"/>
          </a:p>
        </p:txBody>
      </p:sp>
      <p:pic>
        <p:nvPicPr>
          <p:cNvPr id="9" name="Image 0" descr="/Users/mingyenlin/Documents/pdf/mineru_output_ai_strategy/AI_Strategy/auto/ctci_mineru_out/CTCI_Strategy/auto/images/20dc87e4a6690067e1bef29185218b7bdf42e555cd7185e04eddb52322c4174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351" y="1076325"/>
            <a:ext cx="3873401" cy="27021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壓力測試：美國 BKRF 196 億危機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33351"/>
            <a:ext cx="3936950" cy="2339578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361926"/>
            <a:ext cx="3936950" cy="0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581001"/>
            <a:ext cx="36270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現況處置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8450" y="2111127"/>
            <a:ext cx="3555950" cy="11936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2024 Q1 認列 31 億元預期信用減損。</a:t>
            </a:r>
            <a:endParaRPr lang="en-US" sz="14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重整計畫生效，確保 0.75 億美元優先受償。</a:t>
            </a:r>
            <a:endParaRPr lang="en-US" sz="14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接手 1 年期 O&amp;M 服務，維持營運。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98802" y="1333351"/>
            <a:ext cx="3937099" cy="2339578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8802" y="1361926"/>
            <a:ext cx="3937099" cy="0"/>
          </a:xfrm>
          <a:prstGeom prst="line">
            <a:avLst/>
          </a:prstGeom>
          <a:noFill/>
          <a:ln w="57150">
            <a:solidFill>
              <a:srgbClr val="2E40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9302" y="1581001"/>
            <a:ext cx="36272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戰略定調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89302" y="2123926"/>
            <a:ext cx="362722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0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「錢沒有拿不回來，只是 5 年後售廠收回。」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89302" y="2809726"/>
            <a:ext cx="362722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200" dirty="0">
                <a:solidFill>
                  <a:srgbClr val="5665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—— 引述董事長觀點，將危機視為極致的壓力測試。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傳統 EPC 管理的物理極限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50" y="1720602"/>
            <a:ext cx="3936950" cy="0"/>
          </a:xfrm>
          <a:prstGeom prst="line">
            <a:avLst/>
          </a:prstGeom>
          <a:noFill/>
          <a:ln w="19050">
            <a:solidFill>
              <a:srgbClr val="AAB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333351"/>
            <a:ext cx="40156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傳統 EPC 管理盲區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1907828"/>
            <a:ext cx="3936950" cy="18669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15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落後財務防禦：</a:t>
            </a:r>
            <a:pPr algn="l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過度依賴完工百分比法，資金鏈瞬間失衡。</a:t>
            </a:r>
            <a:endParaRPr lang="en-US" sz="1400" dirty="0"/>
          </a:p>
          <a:p>
            <a:pPr algn="l" marL="127000" indent="-127000">
              <a:spcAft>
                <a:spcPts val="15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事後追補習慣：</a:t>
            </a:r>
            <a:pPr algn="l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習慣事後申請追加，爭議如滾雪球擴大。</a:t>
            </a:r>
            <a:endParaRPr lang="en-US" sz="1400" dirty="0"/>
          </a:p>
          <a:p>
            <a:pPr algn="l" marL="127000" indent="-127000">
              <a:spcAft>
                <a:spcPts val="15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管理鞭長莫及：</a:t>
            </a:r>
            <a:pPr algn="l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海外專案缺乏即時監控，無法攔截風險。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98802" y="1720602"/>
            <a:ext cx="3937099" cy="0"/>
          </a:xfrm>
          <a:prstGeom prst="line">
            <a:avLst/>
          </a:prstGeom>
          <a:noFill/>
          <a:ln w="19050">
            <a:solidFill>
              <a:srgbClr val="AAB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8802" y="1333351"/>
            <a:ext cx="40158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次世代數位防禦需求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98802" y="1907828"/>
            <a:ext cx="3937099" cy="18669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15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事前預防數位孿生：</a:t>
            </a:r>
            <a:pPr algn="l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開工前完成所有設計與成本超支壓力測試。</a:t>
            </a:r>
            <a:endParaRPr lang="en-US" sz="1400" dirty="0"/>
          </a:p>
          <a:p>
            <a:pPr algn="l" marL="127000" indent="-127000">
              <a:spcAft>
                <a:spcPts val="15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動態風控儀表板：</a:t>
            </a:r>
            <a:pPr algn="l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建立數據驅動的即時止損機制。</a:t>
            </a:r>
            <a:endParaRPr lang="en-US" sz="1400" dirty="0"/>
          </a:p>
          <a:p>
            <a:pPr algn="l" marL="127000" indent="-127000">
              <a:spcAft>
                <a:spcPts val="15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車規級容錯底線：</a:t>
            </a:r>
            <a:pPr algn="l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導入「失效後維持運作」的安全精神。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戰略典範轉移：植入車規級基因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33351"/>
            <a:ext cx="8127950" cy="1514177"/>
          </a:xfrm>
          <a:prstGeom prst="roundRect">
            <a:avLst>
              <a:gd name="adj" fmla="val 8387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50" y="1587252"/>
            <a:ext cx="77725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核心概念：從「事後追認」轉向「感測止損」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650" y="2104727"/>
            <a:ext cx="77725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不是等撞車了才修車，而是在感測到危險前 0.1 秒自動介入煞車。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1864" y="3101429"/>
            <a:ext cx="2831902" cy="1288554"/>
          </a:xfrm>
          <a:prstGeom prst="roundRect">
            <a:avLst>
              <a:gd name="adj" fmla="val 4928"/>
            </a:avLst>
          </a:prstGeom>
          <a:noFill/>
          <a:ln w="19050">
            <a:solidFill>
              <a:srgbClr val="2E405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82465" y="3310830"/>
            <a:ext cx="25906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汽車工業 (Automotive)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2465" y="3621881"/>
            <a:ext cx="25906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ISO 26262 功能安全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2465" y="3932932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Fail-Operational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01592" y="3482429"/>
            <a:ext cx="3474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➔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50086" y="3101429"/>
            <a:ext cx="2831902" cy="1288554"/>
          </a:xfrm>
          <a:prstGeom prst="roundRect">
            <a:avLst>
              <a:gd name="adj" fmla="val 4928"/>
            </a:avLst>
          </a:prstGeom>
          <a:noFill/>
          <a:ln w="19050">
            <a:solidFill>
              <a:srgbClr val="2E405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70687" y="3310830"/>
            <a:ext cx="25906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統包工程 (EPC Future)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0687" y="3621881"/>
            <a:ext cx="25906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IEC 61508 系統安全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0687" y="3932932"/>
            <a:ext cx="25906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動態止損與優化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中鼎智慧工程大腦：D-R-A-P 流程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26671" y="1536502"/>
            <a:ext cx="82905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實現超越傳統管理的預測性安全與效率提升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351" y="2406402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21017" y="2611189"/>
            <a:ext cx="2245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91441" y="3295352"/>
            <a:ext cx="16839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數位孿生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76624" y="2817465"/>
            <a:ext cx="2779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➔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11401" y="2406402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80067" y="2611189"/>
            <a:ext cx="2245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0490" y="3295352"/>
            <a:ext cx="16839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壓力測試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5673" y="2817465"/>
            <a:ext cx="2779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➔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70302" y="2406402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38968" y="2611189"/>
            <a:ext cx="2245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09391" y="3295352"/>
            <a:ext cx="16839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優化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94723" y="2817465"/>
            <a:ext cx="2779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429351" y="2406402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06669" y="2611189"/>
            <a:ext cx="2073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68441" y="3295352"/>
            <a:ext cx="16839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即時回饋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381000"/>
            <a:ext cx="0" cy="504825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381000"/>
            <a:ext cx="79698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D-R-A-P 引擎細節解析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76325"/>
            <a:ext cx="3968651" cy="1031081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095375"/>
            <a:ext cx="3968651" cy="0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0350" y="1266825"/>
            <a:ext cx="373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D: Digital Twin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0350" y="1558826"/>
            <a:ext cx="373712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665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匯入 BIM 模型與合約條款。主動注入「設備遲交」、「颶風停工」等一萬次失敗情境。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7101" y="1076325"/>
            <a:ext cx="3968800" cy="1031081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7101" y="1095375"/>
            <a:ext cx="3968800" cy="0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9501" y="1266825"/>
            <a:ext cx="373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R: Risk Testing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19501" y="1558826"/>
            <a:ext cx="373728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665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運用自駕車動態路徑算法，精算「關鍵路徑 (Critical Path)」偏移量與連鎖反應成本。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2297906"/>
            <a:ext cx="3968651" cy="1031081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7950" y="2316956"/>
            <a:ext cx="3968651" cy="0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350" y="2488406"/>
            <a:ext cx="373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A: AI Mitigation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0350" y="2780407"/>
            <a:ext cx="373712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665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自動生成 Fail-Safe (備援替換) 或 Degraded Mode (降級施工) 方案，並計算 ROI。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7101" y="2297906"/>
            <a:ext cx="3968800" cy="1031081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101" y="2316956"/>
            <a:ext cx="3968800" cy="0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9501" y="2488406"/>
            <a:ext cx="373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P: Predictive Feedback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19501" y="2780407"/>
            <a:ext cx="373728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665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現場 AI 影像聯動，若現實偏差達 ASIL-D 等級，警報直達執行長。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04825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實戰推演：虛擬失敗，實體完美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676"/>
            <a:ext cx="3736925" cy="768251"/>
          </a:xfrm>
          <a:prstGeom prst="roundRect">
            <a:avLst>
              <a:gd name="adj" fmla="val 8266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546027"/>
            <a:ext cx="35526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[事件觸發] 美國德州長交期設備延遲 12 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225427"/>
            <a:ext cx="38116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 A (Fail-Safe)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2460278"/>
            <a:ext cx="3811664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立即加價 10% 啟動備選供應商。</a:t>
            </a:r>
            <a:endParaRPr lang="en-US" sz="1300" dirty="0"/>
          </a:p>
          <a:p>
            <a:pPr algn="l" indent="0" marL="0">
              <a:lnSpc>
                <a:spcPts val="169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預計挽回時程：8 週。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3016151"/>
            <a:ext cx="38116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 B (Degraded Mode)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3251002"/>
            <a:ext cx="3811664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變更現場工序，先行施作非受災區塊。</a:t>
            </a:r>
            <a:endParaRPr lang="en-US" sz="1300" dirty="0"/>
          </a:p>
          <a:p>
            <a:pPr algn="l" indent="0" marL="0">
              <a:lnSpc>
                <a:spcPts val="169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預計挽回時程：3 週，維持當期估驗現金流。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8777" y="1266676"/>
            <a:ext cx="4137124" cy="3368725"/>
          </a:xfrm>
          <a:prstGeom prst="roundRect">
            <a:avLst>
              <a:gd name="adj" fmla="val 3016"/>
            </a:avLst>
          </a:prstGeom>
          <a:solidFill>
            <a:srgbClr val="EBF5FB"/>
          </a:solidFill>
          <a:ln w="9525">
            <a:solidFill>
              <a:srgbClr val="2E405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98802" y="1466701"/>
            <a:ext cx="38118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蒙地卡羅風險分佈 (模擬)</a:t>
            </a:r>
            <a:endParaRPr lang="en-US" sz="1200" dirty="0"/>
          </a:p>
        </p:txBody>
      </p:sp>
      <p:pic>
        <p:nvPicPr>
          <p:cNvPr id="12" name="Image 0" descr="/Users/mingyenlin/Documents/pdf/mineru_output_ai_strategy/AI_Strategy/auto/ctci_mineru_out/CTCI_Strategy/auto/images/9a0761cb34fb4e1dfde405eeb46311f18255aae9ff47d2beb1a979a757c537f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8802" y="1828651"/>
            <a:ext cx="3737074" cy="17179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04825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數位藍圖操盤手：戰略中樞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676"/>
            <a:ext cx="3149501" cy="2539901"/>
          </a:xfrm>
          <a:prstGeom prst="roundRect">
            <a:avLst>
              <a:gd name="adj" fmla="val 5000"/>
            </a:avLst>
          </a:prstGeom>
          <a:solidFill>
            <a:srgbClr val="D5D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2442" y="2412802"/>
            <a:ext cx="13059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5665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林明彥 (MY Lin)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11352" y="1266676"/>
            <a:ext cx="48190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跨界系統整合與戰略幕僚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11352" y="1707952"/>
            <a:ext cx="4724549" cy="14475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學歷：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台大機械工程碩士 (專攻閉環控制邏輯)。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定位：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跨界系統整合者、從 0 到 1 孵化器。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核心能力：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技術洞察、風險與供應戰略、國際談判、跨領域溝通整合。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目標角色：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集團數位戰略長 (CDO) 幕僚 / 技術特助。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04825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董事長室戰略延伸：決策防護網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50925" y="1393627"/>
            <a:ext cx="6241852" cy="779413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 w="9525">
            <a:solidFill>
              <a:srgbClr val="2E4053"/>
            </a:solidFill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57201" y="1530102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Chairman &amp; CEO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7201" y="1822103"/>
            <a:ext cx="5829300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聚焦 6,330 億商機全球佈局與資本調度，擺脫細碎回報。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41400" y="2363539"/>
            <a:ext cx="6260902" cy="798463"/>
          </a:xfrm>
          <a:prstGeom prst="roundRect">
            <a:avLst>
              <a:gd name="adj" fmla="val 7953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57201" y="2509540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 Strategic CDO Office (MY Lin)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7201" y="2801541"/>
            <a:ext cx="5829300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核心過濾器：執行 D-R-A-P 引擎，僅上報 ASIL-D 變異與 ROI 方案。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50925" y="3352502"/>
            <a:ext cx="6241852" cy="779413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 w="9525">
            <a:solidFill>
              <a:srgbClr val="2E4053"/>
            </a:solidFill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57201" y="3488978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 EPC Projects (US, ME, Taiwan)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7201" y="3780979"/>
            <a:ext cx="5829300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數據自動匯入，實現穿透式管理，消除傳統層層掩飾。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7592" y="714673"/>
            <a:ext cx="6528816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spcBef>
                <a:spcPts val="2412"/>
              </a:spcBef>
              <a:spcAft>
                <a:spcPts val="2000"/>
              </a:spcAft>
              <a:buNone/>
            </a:pPr>
            <a:r>
              <a:rPr lang="en-US" sz="36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在虛擬世界經歷一萬次壓力測試</a:t>
            </a:r>
            <a:endParaRPr lang="en-US" sz="3600" dirty="0"/>
          </a:p>
          <a:p>
            <a:pPr algn="ctr" indent="0" marL="0">
              <a:lnSpc>
                <a:spcPts val="4680"/>
              </a:lnSpc>
              <a:spcBef>
                <a:spcPts val="2412"/>
              </a:spcBef>
              <a:spcAft>
                <a:spcPts val="2000"/>
              </a:spcAft>
              <a:buNone/>
            </a:pPr>
            <a:r>
              <a:rPr lang="en-US" sz="36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在實體世界，成就完美執行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26669" y="2461915"/>
            <a:ext cx="829066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3000"/>
              </a:spcAft>
              <a:buNone/>
            </a:pPr>
            <a:r>
              <a:rPr lang="en-US" sz="24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「將 196 億的震撼教育，轉化為守護中鼎未來千億霸業的最強數位防禦裝甲。」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20701" y="3704927"/>
            <a:ext cx="6502450" cy="0"/>
          </a:xfrm>
          <a:prstGeom prst="line">
            <a:avLst/>
          </a:prstGeom>
          <a:noFill/>
          <a:ln w="9525">
            <a:solidFill>
              <a:srgbClr val="2E40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5676" y="4192191"/>
            <a:ext cx="663249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邀請林明彥先生加入決策核心，共創韌性演進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CTCI Next-Gen EPC Digital Defense Strategy</dc:title>
  <dc:subject>PptxGenJS Presentation</dc:subject>
  <dc:creator>CTCI Strategy Bot</dc:creator>
  <cp:lastModifiedBy>CTCI Strategy Bot</cp:lastModifiedBy>
  <cp:revision>1</cp:revision>
  <dcterms:created xsi:type="dcterms:W3CDTF">2026-03-23T05:48:03Z</dcterms:created>
  <dcterms:modified xsi:type="dcterms:W3CDTF">2026-03-23T05:48:03Z</dcterms:modified>
</cp:coreProperties>
</file>